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Gelasio"/>
      <p:regular r:id="rId201314"/>
    </p:embeddedFont>
    <p:embeddedFont>
      <p:font typeface="Gelasio SemiBold"/>
      <p:regular r:id="rId201315"/>
    </p:embeddedFont>
    <p:embeddedFont>
      <p:font typeface="Gelasio Bold"/>
      <p:regular r:id="rId201316"/>
    </p:embeddedFont>
    <p:embeddedFont>
      <p:font typeface="Gelasio Medium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4395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End-to-End E-Commerce Sales Analytics Platform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31370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production-grade Data Engineering pipeline built on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Azure Databricks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Azure Data Factory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and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dbt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transforming raw CSV data into executive-ready Power BI dashboards.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4131171"/>
            <a:ext cx="738169" cy="287139"/>
          </a:xfrm>
          <a:prstGeom prst="roundRect">
            <a:avLst>
              <a:gd name="adj" fmla="val 7899"/>
            </a:avLst>
          </a:prstGeom>
          <a:solidFill>
            <a:srgbClr val="33221A"/>
          </a:solidFill>
          <a:ln/>
        </p:spPr>
      </p:sp>
      <p:sp>
        <p:nvSpPr>
          <p:cNvPr id="5" name="Text 3"/>
          <p:cNvSpPr/>
          <p:nvPr/>
        </p:nvSpPr>
        <p:spPr>
          <a:xfrm>
            <a:off x="774879" y="4187825"/>
            <a:ext cx="112094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AZURE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494098" y="4131171"/>
            <a:ext cx="1186726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C49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7502" y="4187825"/>
            <a:ext cx="156950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DATABRICKS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75277" y="4131171"/>
            <a:ext cx="532295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C49F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8682" y="4187825"/>
            <a:ext cx="91507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DBT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02027" y="4131171"/>
            <a:ext cx="977776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C49F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5431" y="4187825"/>
            <a:ext cx="136055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POWER BI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5724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Architecture at a Glance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30821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fully automated pipeline flows from raw CSV ingestion through Medallion Architecture layers to a live Power BI dashboard — with Slack alerts at every stage.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4735" y="1959868"/>
            <a:ext cx="9162225" cy="39510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31230" y="5161683"/>
            <a:ext cx="2078615" cy="25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Databricks → BI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131230" y="4247069"/>
            <a:ext cx="2078615" cy="25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ADLS &amp; Medallion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131230" y="3341694"/>
            <a:ext cx="2078615" cy="25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ADF Ingestion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131230" y="2427081"/>
            <a:ext cx="2078615" cy="25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CSV Ingestion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1475" y="6064548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Every stage is instrumented with audit logging, schema enforcement, and automated alerting — ensuring data reliability from source to insight.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2987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Medallion Architecture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0399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Three progressively refined data layers enforce quality, structure, and business logic at each stage of the pipeline.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119041"/>
            <a:ext cx="3496877" cy="2009080"/>
          </a:xfrm>
          <a:prstGeom prst="roundRect">
            <a:avLst>
              <a:gd name="adj" fmla="val 1411"/>
            </a:avLst>
          </a:prstGeom>
          <a:solidFill>
            <a:srgbClr val="373433"/>
          </a:solidFill>
          <a:ln/>
        </p:spPr>
      </p:sp>
      <p:sp>
        <p:nvSpPr>
          <p:cNvPr id="5" name="Text 3"/>
          <p:cNvSpPr/>
          <p:nvPr/>
        </p:nvSpPr>
        <p:spPr>
          <a:xfrm>
            <a:off x="850482" y="3308052"/>
            <a:ext cx="3118863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🥉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Bronze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0482" y="3729434"/>
            <a:ext cx="31188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Raw ingestion with incremental loading, audit logging, and Delta table storage. Immutable source-of-truth.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3119041"/>
            <a:ext cx="3496877" cy="2009080"/>
          </a:xfrm>
          <a:prstGeom prst="roundRect">
            <a:avLst>
              <a:gd name="adj" fmla="val 1411"/>
            </a:avLst>
          </a:prstGeom>
          <a:solidFill>
            <a:srgbClr val="373433"/>
          </a:solidFill>
          <a:ln/>
        </p:spPr>
      </p:sp>
      <p:sp>
        <p:nvSpPr>
          <p:cNvPr id="8" name="Text 6"/>
          <p:cNvSpPr/>
          <p:nvPr/>
        </p:nvSpPr>
        <p:spPr>
          <a:xfrm>
            <a:off x="4536366" y="3308052"/>
            <a:ext cx="3118863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🥈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Silver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536366" y="3729434"/>
            <a:ext cx="3118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cleansing, deduplication, null handling, standardization, and core business transformations.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33244" y="3119041"/>
            <a:ext cx="3496877" cy="2009080"/>
          </a:xfrm>
          <a:prstGeom prst="roundRect">
            <a:avLst>
              <a:gd name="adj" fmla="val 1411"/>
            </a:avLst>
          </a:prstGeom>
          <a:solidFill>
            <a:srgbClr val="373433"/>
          </a:solidFill>
          <a:ln/>
        </p:spPr>
      </p:sp>
      <p:sp>
        <p:nvSpPr>
          <p:cNvPr id="11" name="Text 9"/>
          <p:cNvSpPr/>
          <p:nvPr/>
        </p:nvSpPr>
        <p:spPr>
          <a:xfrm>
            <a:off x="8222251" y="3308052"/>
            <a:ext cx="3118863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🥇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Gold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222251" y="3729434"/>
            <a:ext cx="3118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dbt-managed star schema: staging, dimensions, facts, marts, KPIs, and executive dashboard models.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3404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Bronze &amp; Silver Layers in Detail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608163"/>
            <a:ext cx="5476043" cy="2515791"/>
          </a:xfrm>
          <a:prstGeom prst="roundRect">
            <a:avLst>
              <a:gd name="adj" fmla="val 1127"/>
            </a:avLst>
          </a:prstGeom>
          <a:solidFill>
            <a:srgbClr val="C49F8C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797175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Bronze — Raw Ingestion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3281462"/>
            <a:ext cx="509802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Incremental loading via watermark tracking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Full audit logging (timestamp, source, row count)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Stored as Delta tables for ACID compliance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Schema enforcement on write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279717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Silver — Cleansed &amp; Enriched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3281462"/>
            <a:ext cx="5203794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Duplicate removal &amp; null handling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type standardization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Business rule transformations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Referential integrity checks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Ready for dimensional modeling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7463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Gold Layer — dbt Data Modeling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719759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dbt orchestrates the Gold layer with a modular, testable model hierarchy — from raw staging tables to executive-ready KPI aggregates.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0562" y="2191742"/>
            <a:ext cx="1076000" cy="6394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52309" y="2422624"/>
            <a:ext cx="252505" cy="315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4096044" y="2371229"/>
            <a:ext cx="725469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Executive Dashboard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3961408" y="2840930"/>
            <a:ext cx="7523966" cy="12700"/>
          </a:xfrm>
          <a:prstGeom prst="roundRect">
            <a:avLst>
              <a:gd name="adj" fmla="val 212087"/>
            </a:avLst>
          </a:prstGeom>
          <a:solidFill>
            <a:srgbClr val="504D4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611" y="2876054"/>
            <a:ext cx="2152001" cy="6394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52309" y="3037979"/>
            <a:ext cx="252505" cy="315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4634094" y="3055541"/>
            <a:ext cx="671664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KPI Models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4499458" y="3525242"/>
            <a:ext cx="6985917" cy="12700"/>
          </a:xfrm>
          <a:prstGeom prst="roundRect">
            <a:avLst>
              <a:gd name="adj" fmla="val 212087"/>
            </a:avLst>
          </a:prstGeom>
          <a:solidFill>
            <a:srgbClr val="504D4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561" y="3560366"/>
            <a:ext cx="3228001" cy="6394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52210" y="3722291"/>
            <a:ext cx="252505" cy="315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5172045" y="3739852"/>
            <a:ext cx="617869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Mart Models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5037408" y="4209554"/>
            <a:ext cx="6447966" cy="12700"/>
          </a:xfrm>
          <a:prstGeom prst="roundRect">
            <a:avLst>
              <a:gd name="adj" fmla="val 212087"/>
            </a:avLst>
          </a:prstGeom>
          <a:solidFill>
            <a:srgbClr val="504D4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611" y="4244677"/>
            <a:ext cx="4304002" cy="63946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252309" y="4406602"/>
            <a:ext cx="252505" cy="315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2"/>
          <p:cNvSpPr/>
          <p:nvPr/>
        </p:nvSpPr>
        <p:spPr>
          <a:xfrm>
            <a:off x="5710095" y="4424164"/>
            <a:ext cx="564064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Fact &amp; Dimension Models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5575458" y="4893866"/>
            <a:ext cx="5909916" cy="12700"/>
          </a:xfrm>
          <a:prstGeom prst="roundRect">
            <a:avLst>
              <a:gd name="adj" fmla="val 212087"/>
            </a:avLst>
          </a:prstGeom>
          <a:solidFill>
            <a:srgbClr val="504D4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61" y="4928989"/>
            <a:ext cx="5380002" cy="63946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252309" y="5090914"/>
            <a:ext cx="252505" cy="315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</a:t>
            </a:r>
            <a:endParaRPr lang="en-US" sz="1950" dirty="0"/>
          </a:p>
        </p:txBody>
      </p:sp>
      <p:sp>
        <p:nvSpPr>
          <p:cNvPr id="22" name="Text 15"/>
          <p:cNvSpPr/>
          <p:nvPr/>
        </p:nvSpPr>
        <p:spPr>
          <a:xfrm>
            <a:off x="6248045" y="5108476"/>
            <a:ext cx="510269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Staging Models</a:t>
            </a:r>
            <a:endParaRPr lang="en-US" sz="1750" dirty="0"/>
          </a:p>
        </p:txBody>
      </p:sp>
      <p:sp>
        <p:nvSpPr>
          <p:cNvPr id="23" name="Text 16"/>
          <p:cNvSpPr/>
          <p:nvPr/>
        </p:nvSpPr>
        <p:spPr>
          <a:xfrm>
            <a:off x="661475" y="5760343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Each layer builds on the one below, creating a clean lineage from Silver tables to business-facing aggregates.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60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dbt Project Structure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9914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Folder Organization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2407047"/>
            <a:ext cx="5203794" cy="3402211"/>
          </a:xfrm>
          <a:prstGeom prst="roundRect">
            <a:avLst>
              <a:gd name="adj" fmla="val 833"/>
            </a:avLst>
          </a:prstGeom>
          <a:solidFill>
            <a:srgbClr val="53504F"/>
          </a:solidFill>
          <a:ln/>
        </p:spPr>
      </p:sp>
      <p:sp>
        <p:nvSpPr>
          <p:cNvPr id="5" name="Shape 3"/>
          <p:cNvSpPr/>
          <p:nvPr/>
        </p:nvSpPr>
        <p:spPr>
          <a:xfrm>
            <a:off x="652049" y="2407047"/>
            <a:ext cx="5222645" cy="3402211"/>
          </a:xfrm>
          <a:prstGeom prst="roundRect">
            <a:avLst>
              <a:gd name="adj" fmla="val 833"/>
            </a:avLst>
          </a:prstGeom>
          <a:solidFill>
            <a:srgbClr val="53504F"/>
          </a:solidFill>
          <a:ln/>
        </p:spPr>
      </p:sp>
      <p:sp>
        <p:nvSpPr>
          <p:cNvPr id="6" name="Text 4"/>
          <p:cNvSpPr/>
          <p:nvPr/>
        </p:nvSpPr>
        <p:spPr>
          <a:xfrm>
            <a:off x="888283" y="2596059"/>
            <a:ext cx="4750177" cy="3024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staging/      # Raw Silver refs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dimensions/   # Dim tables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facts/        # Fact tables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marts/        # Business marts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kpi/          # KPI aggregates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macros/       # Reusable logic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tests/        # Custom tests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snapshots/    # SCD tracking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seeds/        # Static data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189914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dbt Concepts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2383433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source()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Declares upstream Silver tables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ref()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Builds model dependencies &amp; lineage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Materializations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table, view, incremental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Model lineage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Auto-generated DAG visualization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86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Quality &amp; Slack Notifications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8799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Built-In Quality Checks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95897"/>
            <a:ext cx="5203794" cy="12155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2310309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Null &amp; Duplicate Checks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2794595"/>
            <a:ext cx="46733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Flagged at Silver and Gold boundaries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500437"/>
            <a:ext cx="5203794" cy="121552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7479" y="3714849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Schema Validation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977479" y="4199136"/>
            <a:ext cx="46733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Enforced on every write operation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904978"/>
            <a:ext cx="5203794" cy="121552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7479" y="5119390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Row Count &amp; Relationship Tests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977479" y="5603677"/>
            <a:ext cx="46733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Validates referential integrity across layers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332776" y="158799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Slack Pipeline Alerts</a:t>
            </a:r>
            <a:endParaRPr lang="en-US" sz="1850" dirty="0"/>
          </a:p>
        </p:txBody>
      </p:sp>
      <p:sp>
        <p:nvSpPr>
          <p:cNvPr id="14" name="Shape 9"/>
          <p:cNvSpPr/>
          <p:nvPr/>
        </p:nvSpPr>
        <p:spPr>
          <a:xfrm>
            <a:off x="6332776" y="2095897"/>
            <a:ext cx="2507394" cy="1479848"/>
          </a:xfrm>
          <a:prstGeom prst="roundRect">
            <a:avLst>
              <a:gd name="adj" fmla="val 1916"/>
            </a:avLst>
          </a:prstGeom>
          <a:solidFill>
            <a:srgbClr val="373433"/>
          </a:solidFill>
          <a:ln/>
        </p:spPr>
      </p:sp>
      <p:sp>
        <p:nvSpPr>
          <p:cNvPr id="15" name="Text 10"/>
          <p:cNvSpPr/>
          <p:nvPr/>
        </p:nvSpPr>
        <p:spPr>
          <a:xfrm>
            <a:off x="6521783" y="2284909"/>
            <a:ext cx="2129380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Success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6521783" y="2781895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Bronze, Silver, Gold completion notifications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9029176" y="2095897"/>
            <a:ext cx="2507394" cy="1479848"/>
          </a:xfrm>
          <a:prstGeom prst="roundRect">
            <a:avLst>
              <a:gd name="adj" fmla="val 1916"/>
            </a:avLst>
          </a:prstGeom>
          <a:solidFill>
            <a:srgbClr val="373433"/>
          </a:solidFill>
          <a:ln/>
        </p:spPr>
      </p:sp>
      <p:sp>
        <p:nvSpPr>
          <p:cNvPr id="18" name="Text 13"/>
          <p:cNvSpPr/>
          <p:nvPr/>
        </p:nvSpPr>
        <p:spPr>
          <a:xfrm>
            <a:off x="9218183" y="2284909"/>
            <a:ext cx="2129380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🚨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Failure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9218183" y="2781895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Immediate alerts with error context &amp; stage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29743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Power BI Dashboard — Key Metrics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2936577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Gold layer feeds a live Power BI dashboard covering revenue, orders, customers, products, and seller performance.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327896"/>
            <a:ext cx="321262" cy="3212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819823"/>
            <a:ext cx="350908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&amp; Orders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61475" y="4152702"/>
            <a:ext cx="350908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Total revenue, order volume, and monthly sales trends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1208" y="3327896"/>
            <a:ext cx="321262" cy="3212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41208" y="3819823"/>
            <a:ext cx="350918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Customers &amp; Products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4341208" y="4152702"/>
            <a:ext cx="350918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count, top products, and category analysis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1040" y="3327896"/>
            <a:ext cx="321262" cy="3212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21040" y="3819823"/>
            <a:ext cx="350908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Seller Performance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8021040" y="4152702"/>
            <a:ext cx="350908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Seller rankings, fulfillment rates, and category breakdowns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158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Challenges &amp; Performance Optimization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7900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Engineering Challenges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163292"/>
            <a:ext cx="5203794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Unity Catalog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Governance &amp; access control setup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Databricks Permissions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Fine-grained ACL configuration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dbt Configuration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Environment &amp; target management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SQL Optimization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Query tuning for large datasets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267900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Optimization Strategies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32776" y="3163292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Delta Optimization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Z-Ordering &amp; compaction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Incremental Models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Process only changed data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Partitioning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By date for query pruning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Caching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Spark cache for repeated transforms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0968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Business Impact &amp; What's Next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515269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Business Benefits Delivered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5271" y="1958429"/>
            <a:ext cx="255085" cy="2550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14209" y="1953220"/>
            <a:ext cx="467417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Automated Reporting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214209" y="2372023"/>
            <a:ext cx="467417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Zero manual intervention from source to dashboard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271" y="2941985"/>
            <a:ext cx="255085" cy="2550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14209" y="2936776"/>
            <a:ext cx="467417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Improved Data Quality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214209" y="3355578"/>
            <a:ext cx="467417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Validated, trusted data at every layer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5271" y="3925540"/>
            <a:ext cx="255085" cy="2550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14209" y="3920331"/>
            <a:ext cx="467417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Scalable Architecture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214209" y="4339134"/>
            <a:ext cx="467417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Cloud-native, elastic, and cost-efficient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309659" y="1515269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Future Enhancements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8913590" y="1953220"/>
            <a:ext cx="19050" cy="4131568"/>
          </a:xfrm>
          <a:prstGeom prst="roundRect">
            <a:avLst>
              <a:gd name="adj" fmla="val 133950"/>
            </a:avLst>
          </a:prstGeom>
          <a:solidFill>
            <a:srgbClr val="504D4C"/>
          </a:solidFill>
          <a:ln/>
        </p:spPr>
      </p:sp>
      <p:sp>
        <p:nvSpPr>
          <p:cNvPr id="15" name="Shape 10"/>
          <p:cNvSpPr/>
          <p:nvPr/>
        </p:nvSpPr>
        <p:spPr>
          <a:xfrm>
            <a:off x="8240556" y="2134989"/>
            <a:ext cx="510269" cy="19050"/>
          </a:xfrm>
          <a:prstGeom prst="roundRect">
            <a:avLst>
              <a:gd name="adj" fmla="val 133950"/>
            </a:avLst>
          </a:prstGeom>
          <a:solidFill>
            <a:srgbClr val="504D4C"/>
          </a:solidFill>
          <a:ln/>
        </p:spPr>
      </p:sp>
      <p:sp>
        <p:nvSpPr>
          <p:cNvPr id="16" name="Shape 11"/>
          <p:cNvSpPr/>
          <p:nvPr/>
        </p:nvSpPr>
        <p:spPr>
          <a:xfrm>
            <a:off x="8731776" y="1953220"/>
            <a:ext cx="382677" cy="382687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/>
        </p:spPr>
      </p:sp>
      <p:sp>
        <p:nvSpPr>
          <p:cNvPr id="17" name="Text 12"/>
          <p:cNvSpPr/>
          <p:nvPr/>
        </p:nvSpPr>
        <p:spPr>
          <a:xfrm>
            <a:off x="8795522" y="1985070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309659" y="2011660"/>
            <a:ext cx="176287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CI/CD Pipelines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6309659" y="2430463"/>
            <a:ext cx="176287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Automated testing &amp; deployment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95403" y="3121620"/>
            <a:ext cx="510269" cy="19050"/>
          </a:xfrm>
          <a:prstGeom prst="roundRect">
            <a:avLst>
              <a:gd name="adj" fmla="val 133950"/>
            </a:avLst>
          </a:prstGeom>
          <a:solidFill>
            <a:srgbClr val="504D4C"/>
          </a:solidFill>
          <a:ln/>
        </p:spPr>
      </p:sp>
      <p:sp>
        <p:nvSpPr>
          <p:cNvPr id="21" name="Shape 16"/>
          <p:cNvSpPr/>
          <p:nvPr/>
        </p:nvSpPr>
        <p:spPr>
          <a:xfrm>
            <a:off x="8731776" y="2939852"/>
            <a:ext cx="382677" cy="382687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/>
        </p:spPr>
      </p:sp>
      <p:sp>
        <p:nvSpPr>
          <p:cNvPr id="22" name="Text 17"/>
          <p:cNvSpPr/>
          <p:nvPr/>
        </p:nvSpPr>
        <p:spPr>
          <a:xfrm>
            <a:off x="8795522" y="2971701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9773695" y="2998291"/>
            <a:ext cx="1762875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Airflow Orchestration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9773695" y="3682802"/>
            <a:ext cx="176287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Advanced workflow scheduling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8240556" y="3984327"/>
            <a:ext cx="510269" cy="19050"/>
          </a:xfrm>
          <a:prstGeom prst="roundRect">
            <a:avLst>
              <a:gd name="adj" fmla="val 133950"/>
            </a:avLst>
          </a:prstGeom>
          <a:solidFill>
            <a:srgbClr val="504D4C"/>
          </a:solidFill>
          <a:ln/>
        </p:spPr>
      </p:sp>
      <p:sp>
        <p:nvSpPr>
          <p:cNvPr id="26" name="Shape 21"/>
          <p:cNvSpPr/>
          <p:nvPr/>
        </p:nvSpPr>
        <p:spPr>
          <a:xfrm>
            <a:off x="8731776" y="3802559"/>
            <a:ext cx="382677" cy="382687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/>
        </p:spPr>
      </p:sp>
      <p:sp>
        <p:nvSpPr>
          <p:cNvPr id="27" name="Text 22"/>
          <p:cNvSpPr/>
          <p:nvPr/>
        </p:nvSpPr>
        <p:spPr>
          <a:xfrm>
            <a:off x="8795522" y="3834408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3"/>
          <p:cNvSpPr/>
          <p:nvPr/>
        </p:nvSpPr>
        <p:spPr>
          <a:xfrm>
            <a:off x="6309659" y="3860998"/>
            <a:ext cx="1762875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Streaming</a:t>
            </a:r>
            <a:endParaRPr lang="en-US" sz="1650" dirty="0"/>
          </a:p>
        </p:txBody>
      </p:sp>
      <p:sp>
        <p:nvSpPr>
          <p:cNvPr id="29" name="Text 24"/>
          <p:cNvSpPr/>
          <p:nvPr/>
        </p:nvSpPr>
        <p:spPr>
          <a:xfrm>
            <a:off x="6309659" y="4545509"/>
            <a:ext cx="176287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Spark Structured Streaming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9095403" y="4847134"/>
            <a:ext cx="510269" cy="19050"/>
          </a:xfrm>
          <a:prstGeom prst="roundRect">
            <a:avLst>
              <a:gd name="adj" fmla="val 133950"/>
            </a:avLst>
          </a:prstGeom>
          <a:solidFill>
            <a:srgbClr val="504D4C"/>
          </a:solidFill>
          <a:ln/>
        </p:spPr>
      </p:sp>
      <p:sp>
        <p:nvSpPr>
          <p:cNvPr id="31" name="Shape 26"/>
          <p:cNvSpPr/>
          <p:nvPr/>
        </p:nvSpPr>
        <p:spPr>
          <a:xfrm>
            <a:off x="8731776" y="4665365"/>
            <a:ext cx="382677" cy="382687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/>
        </p:spPr>
      </p:sp>
      <p:sp>
        <p:nvSpPr>
          <p:cNvPr id="32" name="Text 27"/>
          <p:cNvSpPr/>
          <p:nvPr/>
        </p:nvSpPr>
        <p:spPr>
          <a:xfrm>
            <a:off x="8795522" y="4697214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28"/>
          <p:cNvSpPr/>
          <p:nvPr/>
        </p:nvSpPr>
        <p:spPr>
          <a:xfrm>
            <a:off x="9773695" y="4723805"/>
            <a:ext cx="176287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ML Forecasting</a:t>
            </a:r>
            <a:endParaRPr lang="en-US" sz="1650" dirty="0"/>
          </a:p>
        </p:txBody>
      </p:sp>
      <p:sp>
        <p:nvSpPr>
          <p:cNvPr id="34" name="Text 29"/>
          <p:cNvSpPr/>
          <p:nvPr/>
        </p:nvSpPr>
        <p:spPr>
          <a:xfrm>
            <a:off x="9773695" y="5142607"/>
            <a:ext cx="176287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Demand prediction with MLflow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277691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332776" y="2897386"/>
            <a:ext cx="520379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332776" y="3677047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2026-07-12T12:48:08Z</dcterms:created>
  <dcterms:modified xsi:type="dcterms:W3CDTF">2026-07-12T12:48:08Z</dcterms:modified>
</cp:coreProperties>
</file>